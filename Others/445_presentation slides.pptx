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7" r:id="rId4"/>
    <p:sldId id="266" r:id="rId5"/>
    <p:sldId id="268" r:id="rId6"/>
    <p:sldId id="269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A-D541-9E82-3B40A32C21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5470C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96.67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1A-D541-9E82-3B40A32C21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FA8D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1A-D541-9E82-3B40A32C21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94.67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1A-D541-9E82-3B40A32C21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8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[Both members] Introduce yourselves by full name, Group 5, CSE445, then go straight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47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4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83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10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shared preprocessing quickly, then the three models in one line each: KNN=nearest match, SVM=best boundary, RF=voting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plainly: KNN made one mistake out of 20, SVM and RF made zero. Mention the 5-fold cross-validation numbers confirm the same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chart: RF and SVM bars are all at 100. Then explain the twist — we still use KNN live because of the distance-based Unknown detection, not because it scored highest. This is the key insight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stages left to right, then point at the color legend — this is exactly what appears on screen during the live webcam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3 of these six to say out loud rather than reading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2-3 to say clearly: not real-world data, no liveness check, manual threshold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card: state the problem in one sentence, then the fix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these four directions quickly,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these four directions quickly,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4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63940" y="-12344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93726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work/icons/br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729" y="11676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MACHINE LEARNING  •  GROUP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Using Machine Learning: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Models, Accuracy &amp; Real-Time Detection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49377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63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Mehedi Hasan Dip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(ID: 2232167042)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Sayef Ali Khan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(ID: 2321942642)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C97A0C"/>
                </a:solidFill>
                <a:latin typeface="Calibri" pitchFamily="34" charset="0"/>
                <a:cs typeface="Calibri" pitchFamily="34" charset="-120"/>
              </a:rPr>
              <a:t>Requirements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pic>
        <p:nvPicPr>
          <p:cNvPr id="15" name="Image 0" descr="/home/claude/work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78" y="3501238"/>
            <a:ext cx="404165" cy="40416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32104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6676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95F5FBB1-9944-BA44-B2FD-35BBEB534BB1}"/>
              </a:ext>
            </a:extLst>
          </p:cNvPr>
          <p:cNvSpPr/>
          <p:nvPr/>
        </p:nvSpPr>
        <p:spPr>
          <a:xfrm>
            <a:off x="492239" y="1813584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Matplotlib</a:t>
            </a: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C1D23AB5-2C73-3A47-A0AF-B5A57C74C017}"/>
              </a:ext>
            </a:extLst>
          </p:cNvPr>
          <p:cNvSpPr/>
          <p:nvPr/>
        </p:nvSpPr>
        <p:spPr>
          <a:xfrm>
            <a:off x="2583180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NumPy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A339C769-B6C7-B540-9BCE-D20BECDC4A6D}"/>
              </a:ext>
            </a:extLst>
          </p:cNvPr>
          <p:cNvSpPr/>
          <p:nvPr/>
        </p:nvSpPr>
        <p:spPr>
          <a:xfrm>
            <a:off x="4680230" y="1801368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</a:rPr>
              <a:t>OpenCV-</a:t>
            </a:r>
            <a:r>
              <a:rPr lang="en-US" dirty="0" err="1">
                <a:solidFill>
                  <a:schemeClr val="bg1"/>
                </a:solidFill>
              </a:rPr>
              <a:t>Python_headless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98EE3CED-7F2E-C04C-89A0-9F974D1C55A5}"/>
              </a:ext>
            </a:extLst>
          </p:cNvPr>
          <p:cNvSpPr/>
          <p:nvPr/>
        </p:nvSpPr>
        <p:spPr>
          <a:xfrm>
            <a:off x="6799037" y="1801368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Pandas</a:t>
            </a: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694CBE1F-9E7F-7A46-B0AE-AAF4ABC7A99E}"/>
              </a:ext>
            </a:extLst>
          </p:cNvPr>
          <p:cNvSpPr/>
          <p:nvPr/>
        </p:nvSpPr>
        <p:spPr>
          <a:xfrm>
            <a:off x="8883869" y="1754702"/>
            <a:ext cx="1927860" cy="294132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Scikit</a:t>
            </a:r>
            <a:r>
              <a:rPr lang="en-US" dirty="0">
                <a:solidFill>
                  <a:schemeClr val="bg1"/>
                </a:solidFill>
              </a:rPr>
              <a:t>-learn</a:t>
            </a:r>
          </a:p>
        </p:txBody>
      </p:sp>
    </p:spTree>
    <p:extLst>
      <p:ext uri="{BB962C8B-B14F-4D97-AF65-F5344CB8AC3E}">
        <p14:creationId xmlns:p14="http://schemas.microsoft.com/office/powerpoint/2010/main" val="332049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52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7A0C"/>
                </a:solidFill>
                <a:latin typeface="Calibri" pitchFamily="34" charset="0"/>
                <a:cs typeface="Calibri" pitchFamily="34" charset="-120"/>
              </a:rPr>
              <a:t>Data Preparation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pic>
        <p:nvPicPr>
          <p:cNvPr id="20" name="Image 1" descr="/home/claude/work/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3501238"/>
            <a:ext cx="404165" cy="40416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D76BCF03-D4DC-2043-A8E4-C36259E9DC68}"/>
              </a:ext>
            </a:extLst>
          </p:cNvPr>
          <p:cNvSpPr/>
          <p:nvPr/>
        </p:nvSpPr>
        <p:spPr>
          <a:xfrm>
            <a:off x="457200" y="2522419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Scope Selected: Extracted first 10 subjects (100 grayscale</a:t>
            </a:r>
          </a:p>
          <a:p>
            <a:r>
              <a:rPr lang="en-US" sz="1600" dirty="0">
                <a:solidFill>
                  <a:srgbClr val="002060"/>
                </a:solidFill>
              </a:rPr>
              <a:t>images, 64×64 pixels) exhibiting varying facial expressions, lighting, and accessories.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7E00AD6-09DE-434F-BC1D-266E0A1031D2}"/>
              </a:ext>
            </a:extLst>
          </p:cNvPr>
          <p:cNvSpPr/>
          <p:nvPr/>
        </p:nvSpPr>
        <p:spPr>
          <a:xfrm>
            <a:off x="457200" y="1368307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1600" dirty="0">
              <a:solidFill>
                <a:srgbClr val="002060"/>
              </a:solidFill>
            </a:endParaRPr>
          </a:p>
          <a:p>
            <a:r>
              <a:rPr lang="en-US" sz="1600" dirty="0">
                <a:solidFill>
                  <a:srgbClr val="002060"/>
                </a:solidFill>
              </a:rPr>
              <a:t>Data Source: Loaded directly via </a:t>
            </a:r>
            <a:r>
              <a:rPr lang="en-US" sz="1600" dirty="0" err="1">
                <a:solidFill>
                  <a:srgbClr val="002060"/>
                </a:solidFill>
              </a:rPr>
              <a:t>scikit-learn's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fetch_olivetti_faces</a:t>
            </a:r>
            <a:r>
              <a:rPr lang="en-US" sz="1600" dirty="0">
                <a:solidFill>
                  <a:srgbClr val="002060"/>
                </a:solidFill>
              </a:rPr>
              <a:t> ().</a:t>
            </a: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B456141-3C57-6D46-B124-CE0FA20EBDCE}"/>
              </a:ext>
            </a:extLst>
          </p:cNvPr>
          <p:cNvSpPr/>
          <p:nvPr/>
        </p:nvSpPr>
        <p:spPr>
          <a:xfrm>
            <a:off x="457200" y="3619140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Disk Structuring: Converted to 8-bit JPG files and saved in</a:t>
            </a:r>
          </a:p>
          <a:p>
            <a:r>
              <a:rPr lang="en-US" sz="1600" dirty="0">
                <a:solidFill>
                  <a:srgbClr val="002060"/>
                </a:solidFill>
              </a:rPr>
              <a:t>structured per-subject directories (e.g., person_00/, person 01/).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9FAC4D8-66C7-D04B-8614-A3524DC4A338}"/>
              </a:ext>
            </a:extLst>
          </p:cNvPr>
          <p:cNvSpPr/>
          <p:nvPr/>
        </p:nvSpPr>
        <p:spPr>
          <a:xfrm>
            <a:off x="457200" y="4747621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Design Logic: Mirrors real-world directory structures and enables true OpenCV image file I/O rather than relying solely on in-</a:t>
            </a:r>
          </a:p>
          <a:p>
            <a:r>
              <a:rPr lang="en-US" sz="1600" dirty="0">
                <a:solidFill>
                  <a:srgbClr val="002060"/>
                </a:solidFill>
              </a:rPr>
              <a:t>memory arrays.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9EAF4-C8F7-0840-B119-ED52FDC4CA0B}"/>
              </a:ext>
            </a:extLst>
          </p:cNvPr>
          <p:cNvSpPr txBox="1"/>
          <p:nvPr/>
        </p:nvSpPr>
        <p:spPr>
          <a:xfrm>
            <a:off x="457200" y="790111"/>
            <a:ext cx="3636821" cy="369332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8798"/>
                      </a14:imgEffect>
                      <a14:imgEffect>
                        <a14:saturation sat="299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Olivetti (AT&amp;T) Faces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1DF31-C1DF-684B-B01E-32BCE2A22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034" y="1365414"/>
            <a:ext cx="5079532" cy="4229975"/>
          </a:xfrm>
          <a:prstGeom prst="rect">
            <a:avLst/>
          </a:prstGeom>
        </p:spPr>
      </p:pic>
      <p:sp>
        <p:nvSpPr>
          <p:cNvPr id="21" name="Text 25">
            <a:extLst>
              <a:ext uri="{FF2B5EF4-FFF2-40B4-BE49-F238E27FC236}">
                <a16:creationId xmlns:a16="http://schemas.microsoft.com/office/drawing/2014/main" id="{FD4E3111-733B-9D43-99D5-B66B26498FE6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8098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52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7A0C"/>
                </a:solidFill>
                <a:latin typeface="Calibri" pitchFamily="34" charset="0"/>
                <a:cs typeface="Calibri" pitchFamily="34" charset="-120"/>
              </a:rPr>
              <a:t>Data Preprocessing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19149" y="3697426"/>
            <a:ext cx="3520440" cy="2606040"/>
          </a:xfrm>
          <a:prstGeom prst="roundRect">
            <a:avLst>
              <a:gd name="adj" fmla="val 350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2060"/>
                </a:solidFill>
              </a:rPr>
              <a:t>Feature matrix X (100 × 4096) and label vector y stored for reuse.</a:t>
            </a:r>
          </a:p>
        </p:txBody>
      </p:sp>
      <p:sp>
        <p:nvSpPr>
          <p:cNvPr id="14" name="Shape 12"/>
          <p:cNvSpPr/>
          <p:nvPr/>
        </p:nvSpPr>
        <p:spPr>
          <a:xfrm>
            <a:off x="1720236" y="3854784"/>
            <a:ext cx="2696095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0" name="Image 1" descr="/home/claude/work/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3501238"/>
            <a:ext cx="404165" cy="40416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D76BCF03-D4DC-2043-A8E4-C36259E9DC68}"/>
              </a:ext>
            </a:extLst>
          </p:cNvPr>
          <p:cNvSpPr/>
          <p:nvPr/>
        </p:nvSpPr>
        <p:spPr>
          <a:xfrm>
            <a:off x="457200" y="1508760"/>
            <a:ext cx="6035040" cy="56013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2. Cropping &amp;Resizing: Resized to standard 64×64 pixels for fixed vector lengths.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6D883A85-17BE-274F-B4E6-5B71D064AFB2}"/>
              </a:ext>
            </a:extLst>
          </p:cNvPr>
          <p:cNvSpPr/>
          <p:nvPr/>
        </p:nvSpPr>
        <p:spPr>
          <a:xfrm>
            <a:off x="457200" y="788604"/>
            <a:ext cx="6035040" cy="56013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1. Face Detection: </a:t>
            </a:r>
            <a:r>
              <a:rPr lang="en-US" sz="1600" dirty="0" err="1">
                <a:solidFill>
                  <a:srgbClr val="002060"/>
                </a:solidFill>
              </a:rPr>
              <a:t>Haar</a:t>
            </a:r>
            <a:r>
              <a:rPr lang="en-US" sz="1600" dirty="0">
                <a:solidFill>
                  <a:srgbClr val="002060"/>
                </a:solidFill>
              </a:rPr>
              <a:t> Cascade classifier locates face bounding box.</a:t>
            </a:r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3644BECB-A655-5A4A-8B4D-8FBD236D7E1F}"/>
              </a:ext>
            </a:extLst>
          </p:cNvPr>
          <p:cNvSpPr/>
          <p:nvPr/>
        </p:nvSpPr>
        <p:spPr>
          <a:xfrm>
            <a:off x="457200" y="2211672"/>
            <a:ext cx="6035040" cy="56013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3. Histogram Equalization: cv2.equalizeHist() reduces lighting variance.</a:t>
            </a: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3E136BC8-FEF7-1C4A-A6DD-51B534685E2E}"/>
              </a:ext>
            </a:extLst>
          </p:cNvPr>
          <p:cNvSpPr/>
          <p:nvPr/>
        </p:nvSpPr>
        <p:spPr>
          <a:xfrm>
            <a:off x="457200" y="2948516"/>
            <a:ext cx="6035040" cy="56013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rgbClr val="002060"/>
                </a:solidFill>
              </a:rPr>
              <a:t>4. Normalization &amp;Flattening: Scaled to [0,1] range &amp;flattened to 4096-d feature vector.</a:t>
            </a: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96C7EA-920F-734D-ACBD-26711D134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76409"/>
            <a:ext cx="5075668" cy="5751485"/>
          </a:xfrm>
          <a:prstGeom prst="rect">
            <a:avLst/>
          </a:prstGeom>
        </p:spPr>
      </p:pic>
      <p:sp>
        <p:nvSpPr>
          <p:cNvPr id="38" name="Text 25">
            <a:extLst>
              <a:ext uri="{FF2B5EF4-FFF2-40B4-BE49-F238E27FC236}">
                <a16:creationId xmlns:a16="http://schemas.microsoft.com/office/drawing/2014/main" id="{61763EC1-AA16-9B41-BA8C-37319E5C8675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6895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52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C97A0C"/>
                </a:solidFill>
                <a:latin typeface="Calibri" pitchFamily="34" charset="0"/>
                <a:cs typeface="Calibri" pitchFamily="34" charset="-120"/>
              </a:rPr>
              <a:t>Train/Test Split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3740" y="1878769"/>
            <a:ext cx="6346764" cy="2074025"/>
          </a:xfrm>
          <a:prstGeom prst="roundRect">
            <a:avLst>
              <a:gd name="adj" fmla="val 3509"/>
            </a:avLst>
          </a:prstGeom>
          <a:solidFill>
            <a:srgbClr val="002060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pPr algn="ctr"/>
            <a:endParaRPr lang="en-US" sz="3200" dirty="0"/>
          </a:p>
          <a:p>
            <a:pPr algn="ctr"/>
            <a:r>
              <a:rPr lang="en-US" sz="5400" b="1" dirty="0">
                <a:solidFill>
                  <a:schemeClr val="bg1"/>
                </a:solidFill>
              </a:rPr>
              <a:t>70/30</a:t>
            </a:r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6EFFE-12C3-7748-B046-AE38C2C35987}"/>
              </a:ext>
            </a:extLst>
          </p:cNvPr>
          <p:cNvSpPr txBox="1"/>
          <p:nvPr/>
        </p:nvSpPr>
        <p:spPr>
          <a:xfrm>
            <a:off x="1892763" y="3301631"/>
            <a:ext cx="2679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Stratified Ratio</a:t>
            </a: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EE48A80E-CA73-F846-B51A-352763D5005A}"/>
              </a:ext>
            </a:extLst>
          </p:cNvPr>
          <p:cNvSpPr/>
          <p:nvPr/>
        </p:nvSpPr>
        <p:spPr>
          <a:xfrm>
            <a:off x="7526482" y="1655121"/>
            <a:ext cx="4416137" cy="1240426"/>
          </a:xfrm>
          <a:prstGeom prst="roundRect">
            <a:avLst>
              <a:gd name="adj" fmla="val 43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dirty="0"/>
          </a:p>
          <a:p>
            <a:r>
              <a:rPr lang="en-US" dirty="0"/>
              <a:t>Dataset partitioned into a </a:t>
            </a:r>
            <a:r>
              <a:rPr lang="en-US" b="1" dirty="0">
                <a:solidFill>
                  <a:srgbClr val="002060"/>
                </a:solidFill>
              </a:rPr>
              <a:t>70% Training Set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30% Held-Out Test Set </a:t>
            </a:r>
            <a:r>
              <a:rPr lang="en-US" dirty="0"/>
              <a:t>using </a:t>
            </a:r>
            <a:r>
              <a:rPr lang="en-US" dirty="0" err="1"/>
              <a:t>scikit-learn's</a:t>
            </a:r>
            <a:r>
              <a:rPr lang="en-US" dirty="0"/>
              <a:t> </a:t>
            </a:r>
            <a:r>
              <a:rPr lang="en-US" dirty="0" err="1"/>
              <a:t>train_test_split</a:t>
            </a:r>
            <a:r>
              <a:rPr lang="en-US" dirty="0"/>
              <a:t>(stratify=y).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1F2743AF-D30E-3A45-B7C1-890AA778EDEA}"/>
              </a:ext>
            </a:extLst>
          </p:cNvPr>
          <p:cNvSpPr/>
          <p:nvPr/>
        </p:nvSpPr>
        <p:spPr>
          <a:xfrm>
            <a:off x="7420839" y="3301631"/>
            <a:ext cx="4627421" cy="2333249"/>
          </a:xfrm>
          <a:prstGeom prst="roundRect">
            <a:avLst>
              <a:gd name="adj" fmla="val 350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5875">
            <a:solidFill>
              <a:srgbClr val="CADCFC"/>
            </a:solidFill>
            <a:prstDash val="solid"/>
          </a:ln>
          <a:effectLst>
            <a:outerShdw blurRad="393700" dist="50800" dir="8820000" sx="106000" sy="106000" algn="ctr" rotWithShape="0">
              <a:schemeClr val="accent1">
                <a:lumMod val="20000"/>
                <a:lumOff val="80000"/>
              </a:schemeClr>
            </a:outerShdw>
          </a:effectLst>
        </p:spPr>
        <p:txBody>
          <a:bodyPr/>
          <a:lstStyle/>
          <a:p>
            <a:endParaRPr lang="en-US" dirty="0"/>
          </a:p>
          <a:p>
            <a:r>
              <a:rPr lang="en-US" b="1" dirty="0"/>
              <a:t>Rationale &amp;Design Logic:</a:t>
            </a:r>
          </a:p>
          <a:p>
            <a:r>
              <a:rPr lang="en-US" dirty="0"/>
              <a:t>With only 10 images per subject, random splitting risks under-</a:t>
            </a:r>
          </a:p>
          <a:p>
            <a:r>
              <a:rPr lang="en-US" dirty="0"/>
              <a:t>representing certain identities in the test set. Stratification guarantees exactly </a:t>
            </a:r>
            <a:r>
              <a:rPr lang="en-US" b="1" dirty="0"/>
              <a:t>7 train images </a:t>
            </a:r>
            <a:r>
              <a:rPr lang="en-US" dirty="0"/>
              <a:t>and </a:t>
            </a:r>
            <a:r>
              <a:rPr lang="en-US" b="1" dirty="0"/>
              <a:t>3 test images </a:t>
            </a:r>
            <a:r>
              <a:rPr lang="en-US" dirty="0"/>
              <a:t>per subject, ensuring fair evaluation across all 10 identities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FB5BA47F-005B-FD48-9EDB-A2C40900D242}"/>
              </a:ext>
            </a:extLst>
          </p:cNvPr>
          <p:cNvSpPr/>
          <p:nvPr/>
        </p:nvSpPr>
        <p:spPr>
          <a:xfrm>
            <a:off x="7730836" y="614525"/>
            <a:ext cx="3993523" cy="85473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Stratified Sampling Strategy</a:t>
            </a: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7273E24-3317-454D-9337-3D92065F78EA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4781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852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7A0C"/>
                </a:solidFill>
                <a:latin typeface="Calibri" pitchFamily="34" charset="0"/>
                <a:cs typeface="Calibri" pitchFamily="34" charset="-120"/>
              </a:rPr>
              <a:t>Feature Extraction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pic>
        <p:nvPicPr>
          <p:cNvPr id="20" name="Image 1" descr="/home/claude/work/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3501238"/>
            <a:ext cx="404165" cy="40416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D76BCF03-D4DC-2043-A8E4-C36259E9DC68}"/>
              </a:ext>
            </a:extLst>
          </p:cNvPr>
          <p:cNvSpPr/>
          <p:nvPr/>
        </p:nvSpPr>
        <p:spPr>
          <a:xfrm>
            <a:off x="457200" y="2522419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Variance Retention:</a:t>
            </a:r>
            <a:r>
              <a:rPr lang="en-US" dirty="0">
                <a:solidFill>
                  <a:srgbClr val="002060"/>
                </a:solidFill>
              </a:rPr>
              <a:t> PCA was fit strictly on the training set to compress vectors while retaining </a:t>
            </a:r>
            <a:r>
              <a:rPr lang="en-US" b="1" dirty="0">
                <a:solidFill>
                  <a:srgbClr val="002060"/>
                </a:solidFill>
              </a:rPr>
              <a:t>95% of total variance</a:t>
            </a:r>
            <a:r>
              <a:rPr lang="en-US" dirty="0">
                <a:solidFill>
                  <a:srgbClr val="002060"/>
                </a:solidFill>
              </a:rPr>
              <a:t>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7E00AD6-09DE-434F-BC1D-266E0A1031D2}"/>
              </a:ext>
            </a:extLst>
          </p:cNvPr>
          <p:cNvSpPr/>
          <p:nvPr/>
        </p:nvSpPr>
        <p:spPr>
          <a:xfrm>
            <a:off x="457200" y="1368307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Overfitting Risk:</a:t>
            </a:r>
            <a:r>
              <a:rPr lang="en-US" dirty="0"/>
              <a:t> </a:t>
            </a:r>
            <a:r>
              <a:rPr lang="en-US" dirty="0">
                <a:solidFill>
                  <a:srgbClr val="002060"/>
                </a:solidFill>
              </a:rPr>
              <a:t>Preprocessed 64×64 images yield 4,096-dimensional vectors. Training with only 70 images would cause severe overfitting.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B456141-3C57-6D46-B124-CE0FA20EBDCE}"/>
              </a:ext>
            </a:extLst>
          </p:cNvPr>
          <p:cNvSpPr/>
          <p:nvPr/>
        </p:nvSpPr>
        <p:spPr>
          <a:xfrm>
            <a:off x="457200" y="3689318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Compression Ratio:</a:t>
            </a:r>
            <a:r>
              <a:rPr lang="en-US" dirty="0">
                <a:solidFill>
                  <a:srgbClr val="002060"/>
                </a:solidFill>
              </a:rPr>
              <a:t> Reduced to </a:t>
            </a:r>
            <a:r>
              <a:rPr lang="en-US" b="1" dirty="0">
                <a:solidFill>
                  <a:srgbClr val="002060"/>
                </a:solidFill>
              </a:rPr>
              <a:t>42 components</a:t>
            </a:r>
            <a:r>
              <a:rPr lang="en-US" dirty="0">
                <a:solidFill>
                  <a:srgbClr val="002060"/>
                </a:solidFill>
              </a:rPr>
              <a:t>, achieving a </a:t>
            </a:r>
            <a:r>
              <a:rPr lang="en-US" b="1" dirty="0">
                <a:solidFill>
                  <a:srgbClr val="002060"/>
                </a:solidFill>
              </a:rPr>
              <a:t>97.5× reduction</a:t>
            </a:r>
            <a:r>
              <a:rPr lang="en-US" dirty="0">
                <a:solidFill>
                  <a:srgbClr val="002060"/>
                </a:solidFill>
              </a:rPr>
              <a:t> in dimensionality.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9FAC4D8-66C7-D04B-8614-A3524DC4A338}"/>
              </a:ext>
            </a:extLst>
          </p:cNvPr>
          <p:cNvSpPr/>
          <p:nvPr/>
        </p:nvSpPr>
        <p:spPr>
          <a:xfrm>
            <a:off x="457200" y="4747621"/>
            <a:ext cx="6035040" cy="914399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Design Choice:</a:t>
            </a:r>
            <a:r>
              <a:rPr lang="en-US" dirty="0">
                <a:solidFill>
                  <a:srgbClr val="002060"/>
                </a:solidFill>
              </a:rPr>
              <a:t> Unsupervised, computationally fast, prevents overfitting, and provides clear visual artifacts for report evaluation.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9EAF4-C8F7-0840-B119-ED52FDC4CA0B}"/>
              </a:ext>
            </a:extLst>
          </p:cNvPr>
          <p:cNvSpPr txBox="1"/>
          <p:nvPr/>
        </p:nvSpPr>
        <p:spPr>
          <a:xfrm>
            <a:off x="457200" y="732323"/>
            <a:ext cx="3636821" cy="369332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8798"/>
                      </a14:imgEffect>
                      <a14:imgEffect>
                        <a14:saturation sat="299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Principal Component Analysis (PCA)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E673E0-C900-F74D-BA81-3B65E64EF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080" y="1593844"/>
            <a:ext cx="5425440" cy="3685947"/>
          </a:xfrm>
          <a:prstGeom prst="rect">
            <a:avLst/>
          </a:prstGeom>
        </p:spPr>
      </p:pic>
      <p:sp>
        <p:nvSpPr>
          <p:cNvPr id="18" name="Text 25">
            <a:extLst>
              <a:ext uri="{FF2B5EF4-FFF2-40B4-BE49-F238E27FC236}">
                <a16:creationId xmlns:a16="http://schemas.microsoft.com/office/drawing/2014/main" id="{F2185A00-2232-B348-826E-26AB195C6AA2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0833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Classical ML Models, One Feature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is reduced to the same feature vector before classification: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50×50px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514600" y="2240280"/>
            <a:ext cx="182880" cy="182880"/>
          </a:xfrm>
          <a:prstGeom prst="triangle">
            <a:avLst/>
          </a:prstGeom>
          <a:solidFill>
            <a:srgbClr val="5B6377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874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434840" y="2240280"/>
            <a:ext cx="182880" cy="182880"/>
          </a:xfrm>
          <a:prstGeom prst="triangle">
            <a:avLst/>
          </a:prstGeom>
          <a:solidFill>
            <a:srgbClr val="5B6377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874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74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3147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0" descr="/home/claude/work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78" y="3501238"/>
            <a:ext cx="404165" cy="40416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face by the label of its closest match (Euclidean distance) among all training samples.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310896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15000" y="33147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/home/claude/work/icons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38" y="3501238"/>
            <a:ext cx="404165" cy="4041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 (SVM)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7200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Linear-kernel classifier that finds the best-separating boundary between each pair of identities.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138160" y="310896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509760" y="33147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/home/claude/work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298" y="3501238"/>
            <a:ext cx="404165" cy="40416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66760" y="4800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100 decision trees; each tree votes and the majority label wins.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trained and compared using scikit-learn, with stratified train/test splitting and 5-fold cross-validation.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Precision, Recall &amp; F1 Score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held-out 20% test set (2 images per person, never seen during training):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15600" cy="20116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5720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457200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checked with 5-fold cross-validation (all 100 images):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96.00% ± 3.74%, SVM 99.00% ± 2.00%, Random Forest 100.00% ± 0.00%</a:t>
            </a:r>
            <a:r>
              <a:rPr lang="en-US" sz="13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consistent with the table above.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Performs Best?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148840"/>
            <a:ext cx="3520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SVM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for the best raw performance — 100% on every metric.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slightly behind (95% accuracy) but is the one we actually deploy for live detection —</a:t>
            </a:r>
            <a:r>
              <a:rPr lang="en-US" sz="1300" b="1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gives a distance value that lets the system say “Unknown” for a stranger, which SVM and RF cannot do directly.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Recognition Works Through the Webcam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039112"/>
            <a:ext cx="713232" cy="7132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work/icons/camer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96" y="2210288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8803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Detect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finds the face region in each video frame.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715768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3401568" y="2039112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work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744" y="2210288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7208" y="28803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Preprocess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852928" y="329184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+ equalize + normalize — same pipeline as training.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928616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614416" y="2039112"/>
            <a:ext cx="713232" cy="7132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work/icons/bra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592" y="2210288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0056" y="28803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Match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065776" y="329184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(K=1) finds the closest trained face by distance.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141464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827264" y="2039112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work/icons/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8440" y="2210288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2904" y="28803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Decide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78624" y="329184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distance is within that person's threshold → accept. Otherwise → Unknown.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354312" y="1828800"/>
            <a:ext cx="2084832" cy="28803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40112" y="2039112"/>
            <a:ext cx="713232" cy="7132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work/icons/sync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288" y="2210288"/>
            <a:ext cx="370881" cy="37088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45752" y="28803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Confirm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491472" y="329184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5 of the last 8 frames to agree before showing a final label.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22960" y="5074920"/>
            <a:ext cx="256032" cy="256032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30" name="Text 23"/>
          <p:cNvSpPr/>
          <p:nvPr/>
        </p:nvSpPr>
        <p:spPr>
          <a:xfrm>
            <a:off x="1170432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confirmed match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389120" y="5074920"/>
            <a:ext cx="256032" cy="256032"/>
          </a:xfrm>
          <a:prstGeom prst="ellipse">
            <a:avLst/>
          </a:prstGeom>
          <a:solidFill>
            <a:srgbClr val="C97A0C"/>
          </a:solidFill>
          <a:ln/>
        </p:spPr>
      </p:sp>
      <p:sp>
        <p:nvSpPr>
          <p:cNvPr id="32" name="Text 25"/>
          <p:cNvSpPr/>
          <p:nvPr/>
        </p:nvSpPr>
        <p:spPr>
          <a:xfrm>
            <a:off x="4736592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checking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955280" y="507492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27"/>
          <p:cNvSpPr/>
          <p:nvPr/>
        </p:nvSpPr>
        <p:spPr>
          <a:xfrm>
            <a:off x="8302752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Unknown face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79222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6" name="Image 0" descr="/home/claude/work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1941454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automatic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input needed once trained.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5424" y="179222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11" name="Image 1" descr="/home/claude/work/icons/cro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654" y="1941454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what it doesn't know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Strangers get “Unknown”, not a wrong guess.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79222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16" name="Image 2" descr="/home/claude/work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414" y="1941454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— no GPU or deep learning needed.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0664" y="403250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21" name="Image 3" descr="/home/claude/work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94" y="4181734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output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Frame-voting removes flickering predictions.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35424" y="403250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26" name="Image 4" descr="/home/claude/work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654" y="4181734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100% on the evaluated test data.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0184" y="4032504"/>
            <a:ext cx="621792" cy="621792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31" name="Image 5" descr="/home/claude/work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9414" y="4181734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5166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has a clear distance value behind it.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wor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Trained/tested on the ORL benchmark dataset, not real-world faces collected by us.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/home/claude/work/icons/camer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17318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55448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on clear, front-facing images — accuracy may drop with side angles or poor lighting.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2" descr="/home/claude/work/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24063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0632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can miss faces in poor lighting or unusual poses.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55080" y="3108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3" descr="/home/claude/work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324063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86600" y="30632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enrollment — adding a new person currently means retraining the model.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4" descr="/home/claude/work/icons/secr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4" y="4749394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5720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liveness check — a printed photo or phone screen can, in principle, be accepted.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355080" y="46177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5" descr="/home/claude/work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754" y="4749394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45720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thresholds were tuned by hand rather than learned automatically.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FACED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We Overcame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" y="20116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wor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stranger got matched to the nearest known person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distance threshold per person, calibrated against 30 unseen “stranger” identities.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0116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work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label kept flipping between frames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269480" y="22860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8-frame voting buffer — needs 5 matching votes before committing to an answer.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54380" y="40690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work/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2336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57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Phone-screen photos looked different from real webcam faces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600200" y="4343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calibration tool to collect phone-camera samples and retrained on both versions.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5204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0690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wor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2336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657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 meant the original plan included voice recognition too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69480" y="4343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voice part early to focus fully on making face recognition reliable.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A235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work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4158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84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40487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on real faces collected under real conditions.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A2350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240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home/claude/work/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24158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984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detection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60920" y="240487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blink/motion checks so a photo alone can't fool the system.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A2350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389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work/icons/bra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56468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33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Deep-learning embeddings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55371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models like FaceNet for stronger accuracy in varied conditions.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A235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389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/home/claude/work/icons/syn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085" y="456468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133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threshold tuning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360920" y="455371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each person's distance threshold instead of manual calibration.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549237" y="1506876"/>
            <a:ext cx="6525490" cy="4211782"/>
          </a:xfrm>
          <a:prstGeom prst="roundRect">
            <a:avLst>
              <a:gd name="adj" fmla="val 5000"/>
            </a:avLst>
          </a:prstGeom>
          <a:solidFill>
            <a:srgbClr val="1A2350"/>
          </a:solidFill>
          <a:ln/>
        </p:spPr>
        <p:txBody>
          <a:bodyPr/>
          <a:lstStyle/>
          <a:p>
            <a:pPr algn="ctr"/>
            <a:endParaRPr lang="en-US" sz="5400" b="1" dirty="0">
              <a:solidFill>
                <a:schemeClr val="bg1"/>
              </a:solidFill>
            </a:endParaRPr>
          </a:p>
          <a:p>
            <a:pPr algn="ctr"/>
            <a:r>
              <a:rPr lang="en-US" sz="5400" b="1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7" name="Image 0" descr="/home/claude/work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415845"/>
            <a:ext cx="380390" cy="380390"/>
          </a:xfrm>
          <a:prstGeom prst="rect">
            <a:avLst/>
          </a:prstGeom>
        </p:spPr>
      </p:pic>
      <p:pic>
        <p:nvPicPr>
          <p:cNvPr id="12" name="Image 1" descr="/home/claude/work/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851965"/>
            <a:ext cx="380390" cy="380390"/>
          </a:xfrm>
          <a:prstGeom prst="rect">
            <a:avLst/>
          </a:prstGeom>
        </p:spPr>
      </p:pic>
      <p:pic>
        <p:nvPicPr>
          <p:cNvPr id="17" name="Image 2" descr="/home/claude/work/icons/bra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564685"/>
            <a:ext cx="380390" cy="380390"/>
          </a:xfrm>
          <a:prstGeom prst="rect">
            <a:avLst/>
          </a:prstGeom>
        </p:spPr>
      </p:pic>
      <p:pic>
        <p:nvPicPr>
          <p:cNvPr id="22" name="Image 3" descr="/home/claude/work/icons/syn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085" y="456468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•  Mehedi Hasan Dip • Sayef Ali Khan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60C27A9-4F08-9A42-917C-DE03EFAD25E1}"/>
              </a:ext>
            </a:extLst>
          </p:cNvPr>
          <p:cNvSpPr/>
          <p:nvPr/>
        </p:nvSpPr>
        <p:spPr>
          <a:xfrm>
            <a:off x="3692930" y="3364382"/>
            <a:ext cx="4542904" cy="1013155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1986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1546</Words>
  <Application>Microsoft Macintosh PowerPoint</Application>
  <PresentationFormat>Widescreen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Sayef Ali Khan</cp:lastModifiedBy>
  <cp:revision>11</cp:revision>
  <dcterms:created xsi:type="dcterms:W3CDTF">2026-08-18T17:03:49Z</dcterms:created>
  <dcterms:modified xsi:type="dcterms:W3CDTF">2026-08-19T19:13:48Z</dcterms:modified>
</cp:coreProperties>
</file>